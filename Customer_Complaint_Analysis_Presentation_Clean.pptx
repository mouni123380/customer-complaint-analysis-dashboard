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846320"/>
            <a:ext cx="2560320" cy="2560320"/>
          </a:xfrm>
          <a:prstGeom prst="ellipse">
            <a:avLst/>
          </a:prstGeom>
          <a:solidFill>
            <a:srgbClr val="2C3A7E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-1280160"/>
            <a:ext cx="2926080" cy="292608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 ANALYSIS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Complaint Analysis and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Performance Dashboard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1248" y="4434840"/>
            <a:ext cx="12801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38160" y="548640"/>
            <a:ext cx="3383280" cy="5760720"/>
          </a:xfrm>
          <a:prstGeom prst="roundRect">
            <a:avLst>
              <a:gd name="adj" fmla="val 324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464040" y="11887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6404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22860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records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business insight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0" y="3657600"/>
            <a:ext cx="2286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0" y="3840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Analysis → Visualization → Insight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94560"/>
            <a:ext cx="7040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customer complaint data to understand complaint patterns and support-team performance.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converts raw complaint records into useful business insights using data analysis and visualization tools.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receive complaints through different channels. Without proper analysis, it is difficult to: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304288"/>
            <a:ext cx="9966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00200" y="23042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common customer issues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30815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054096"/>
            <a:ext cx="9966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00200" y="305409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pending and resolved complaints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38313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3803904"/>
            <a:ext cx="9966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00200" y="380390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response and resolution performance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85800" y="45811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4553712"/>
            <a:ext cx="9966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00200" y="455371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support team workloads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85800" y="53309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1600" y="5303520"/>
            <a:ext cx="9966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00200" y="5303520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satisfaction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932688"/>
          </a:xfrm>
          <a:prstGeom prst="roundRect">
            <a:avLst>
              <a:gd name="adj" fmla="val 7843"/>
            </a:avLst>
          </a:prstGeom>
          <a:solidFill>
            <a:srgbClr val="26307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6654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28800"/>
            <a:ext cx="4343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complaint data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257800" cy="932688"/>
          </a:xfrm>
          <a:prstGeom prst="roundRect">
            <a:avLst>
              <a:gd name="adj" fmla="val 7843"/>
            </a:avLst>
          </a:prstGeom>
          <a:solidFill>
            <a:srgbClr val="263077"/>
          </a:solidFill>
          <a:ln/>
        </p:spPr>
      </p:sp>
      <p:sp>
        <p:nvSpPr>
          <p:cNvPr id="9" name="Shape 7"/>
          <p:cNvSpPr/>
          <p:nvPr/>
        </p:nvSpPr>
        <p:spPr>
          <a:xfrm>
            <a:off x="6336792" y="206654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36792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828800"/>
            <a:ext cx="4343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common complaint categories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962656"/>
            <a:ext cx="5257800" cy="932688"/>
          </a:xfrm>
          <a:prstGeom prst="roundRect">
            <a:avLst>
              <a:gd name="adj" fmla="val 7843"/>
            </a:avLst>
          </a:prstGeom>
          <a:solidFill>
            <a:srgbClr val="26307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32004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962656"/>
            <a:ext cx="4343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resolved and pending complaints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2962656"/>
            <a:ext cx="5257800" cy="932688"/>
          </a:xfrm>
          <a:prstGeom prst="roundRect">
            <a:avLst>
              <a:gd name="adj" fmla="val 7843"/>
            </a:avLst>
          </a:prstGeom>
          <a:solidFill>
            <a:srgbClr val="263077"/>
          </a:solidFill>
          <a:ln/>
        </p:spPr>
      </p:sp>
      <p:sp>
        <p:nvSpPr>
          <p:cNvPr id="17" name="Shape 15"/>
          <p:cNvSpPr/>
          <p:nvPr/>
        </p:nvSpPr>
        <p:spPr>
          <a:xfrm>
            <a:off x="6336792" y="32004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3679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962656"/>
            <a:ext cx="4343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complaint priorities and channels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096512"/>
            <a:ext cx="5257800" cy="932688"/>
          </a:xfrm>
          <a:prstGeom prst="roundRect">
            <a:avLst>
              <a:gd name="adj" fmla="val 7843"/>
            </a:avLst>
          </a:prstGeom>
          <a:solidFill>
            <a:srgbClr val="263077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096512"/>
            <a:ext cx="4343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assigned-team performance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4096512"/>
            <a:ext cx="5257800" cy="932688"/>
          </a:xfrm>
          <a:prstGeom prst="roundRect">
            <a:avLst>
              <a:gd name="adj" fmla="val 7843"/>
            </a:avLst>
          </a:prstGeom>
          <a:solidFill>
            <a:srgbClr val="263077"/>
          </a:solidFill>
          <a:ln/>
        </p:spPr>
      </p:sp>
      <p:sp>
        <p:nvSpPr>
          <p:cNvPr id="25" name="Shape 23"/>
          <p:cNvSpPr/>
          <p:nvPr/>
        </p:nvSpPr>
        <p:spPr>
          <a:xfrm>
            <a:off x="6336792" y="433425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36792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096512"/>
            <a:ext cx="4343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response time and resolution time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230368"/>
            <a:ext cx="5257800" cy="932688"/>
          </a:xfrm>
          <a:prstGeom prst="roundRect">
            <a:avLst>
              <a:gd name="adj" fmla="val 7843"/>
            </a:avLst>
          </a:prstGeom>
          <a:solidFill>
            <a:srgbClr val="263077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" y="546811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4672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5230368"/>
            <a:ext cx="4343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ratings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172200" y="5230368"/>
            <a:ext cx="5257800" cy="932688"/>
          </a:xfrm>
          <a:prstGeom prst="roundRect">
            <a:avLst>
              <a:gd name="adj" fmla="val 7843"/>
            </a:avLst>
          </a:prstGeom>
          <a:solidFill>
            <a:srgbClr val="263077"/>
          </a:solidFill>
          <a:ln/>
        </p:spPr>
      </p:sp>
      <p:sp>
        <p:nvSpPr>
          <p:cNvPr id="33" name="Shape 31"/>
          <p:cNvSpPr/>
          <p:nvPr/>
        </p:nvSpPr>
        <p:spPr>
          <a:xfrm>
            <a:off x="6336792" y="546811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36792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5230368"/>
            <a:ext cx="4343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dashboard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36776" y="20299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36776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974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and analysis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9976" y="20299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79976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6974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manipulation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0299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23176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6974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69680" y="182880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66376" y="20299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66376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979408" y="26974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997696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and analysis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79476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36776" y="39959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636776" y="3995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66344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" y="5001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storage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83280" y="379476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9976" y="39959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379976" y="3995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493008" y="466344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511296" y="5001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379476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23176" y="39959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23176" y="3995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236208" y="466344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254496" y="5001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documentation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160020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329184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Creation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366" y="3694176"/>
            <a:ext cx="163860" cy="201168"/>
          </a:xfrm>
          <a:prstGeom prst="rightArrow">
            <a:avLst/>
          </a:prstGeom>
          <a:solidFill>
            <a:srgbClr val="AEB9CC"/>
          </a:solidFill>
          <a:ln/>
        </p:spPr>
      </p:sp>
      <p:sp>
        <p:nvSpPr>
          <p:cNvPr id="8" name="Shape 6"/>
          <p:cNvSpPr/>
          <p:nvPr/>
        </p:nvSpPr>
        <p:spPr>
          <a:xfrm>
            <a:off x="2496312" y="3200400"/>
            <a:ext cx="1600200" cy="1188720"/>
          </a:xfrm>
          <a:prstGeom prst="roundRect">
            <a:avLst>
              <a:gd name="adj" fmla="val 6923"/>
            </a:avLst>
          </a:prstGeom>
          <a:solidFill>
            <a:srgbClr val="3E7CB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69464" y="329184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using Pandas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496312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42598" y="3694176"/>
            <a:ext cx="163860" cy="201168"/>
          </a:xfrm>
          <a:prstGeom prst="rightArrow">
            <a:avLst/>
          </a:prstGeom>
          <a:solidFill>
            <a:srgbClr val="AEB9CC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2544" y="3200400"/>
            <a:ext cx="160020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25696" y="329184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352544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98830" y="3694176"/>
            <a:ext cx="163860" cy="201168"/>
          </a:xfrm>
          <a:prstGeom prst="rightArrow">
            <a:avLst/>
          </a:prstGeom>
          <a:solidFill>
            <a:srgbClr val="AEB9CC"/>
          </a:solidFill>
          <a:ln/>
        </p:spPr>
      </p:sp>
      <p:sp>
        <p:nvSpPr>
          <p:cNvPr id="16" name="Shape 14"/>
          <p:cNvSpPr/>
          <p:nvPr/>
        </p:nvSpPr>
        <p:spPr>
          <a:xfrm>
            <a:off x="6208776" y="3200400"/>
            <a:ext cx="1600200" cy="1188720"/>
          </a:xfrm>
          <a:prstGeom prst="roundRect">
            <a:avLst>
              <a:gd name="adj" fmla="val 6923"/>
            </a:avLst>
          </a:prstGeom>
          <a:solidFill>
            <a:srgbClr val="3E7CB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81928" y="329184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using SQLite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08776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55062" y="3694176"/>
            <a:ext cx="163860" cy="201168"/>
          </a:xfrm>
          <a:prstGeom prst="rightArrow">
            <a:avLst/>
          </a:prstGeom>
          <a:solidFill>
            <a:srgbClr val="AEB9CC"/>
          </a:solidFill>
          <a:ln/>
        </p:spPr>
      </p:sp>
      <p:sp>
        <p:nvSpPr>
          <p:cNvPr id="20" name="Shape 18"/>
          <p:cNvSpPr/>
          <p:nvPr/>
        </p:nvSpPr>
        <p:spPr>
          <a:xfrm>
            <a:off x="8065008" y="3200400"/>
            <a:ext cx="160020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38160" y="329184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Creation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065008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11294" y="3694176"/>
            <a:ext cx="163860" cy="201168"/>
          </a:xfrm>
          <a:prstGeom prst="rightArrow">
            <a:avLst/>
          </a:prstGeom>
          <a:solidFill>
            <a:srgbClr val="AEB9CC"/>
          </a:solidFill>
          <a:ln/>
        </p:spPr>
      </p:sp>
      <p:sp>
        <p:nvSpPr>
          <p:cNvPr id="24" name="Shape 22"/>
          <p:cNvSpPr/>
          <p:nvPr/>
        </p:nvSpPr>
        <p:spPr>
          <a:xfrm>
            <a:off x="9921240" y="3200400"/>
            <a:ext cx="1600200" cy="1188720"/>
          </a:xfrm>
          <a:prstGeom prst="roundRect">
            <a:avLst>
              <a:gd name="adj" fmla="val 6923"/>
            </a:avLst>
          </a:prstGeom>
          <a:solidFill>
            <a:srgbClr val="3E7CB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994392" y="329184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and Documentation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937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left-to-right pipeline from raw data to documented business insight.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Details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contains customer complaint information such as: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3408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" y="281635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01568" y="2194560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47872" y="23408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9584" y="281635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63056" y="2194560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3408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91072" y="281635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Date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24544" y="2194560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70848" y="23408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52560" y="281635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547872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369417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8096" y="416966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01568" y="3547872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47872" y="369417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529584" y="416966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Channel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63056" y="3547872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369417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91072" y="416966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Team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924544" y="3547872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70848" y="369417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052560" y="416966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901184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" y="5047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8096" y="552297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401568" y="4901184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33" name="Shape 31"/>
          <p:cNvSpPr/>
          <p:nvPr/>
        </p:nvSpPr>
        <p:spPr>
          <a:xfrm>
            <a:off x="3547872" y="5047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529584" y="552297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Status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163056" y="4901184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9360" y="5047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91072" y="552297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Features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dashboard includes: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263077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240030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70432" y="2148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Complaints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14884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263077"/>
          </a:solidFill>
          <a:ln/>
        </p:spPr>
      </p:sp>
      <p:sp>
        <p:nvSpPr>
          <p:cNvPr id="9" name="Shape 7"/>
          <p:cNvSpPr/>
          <p:nvPr/>
        </p:nvSpPr>
        <p:spPr>
          <a:xfrm>
            <a:off x="4443984" y="240030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28032" y="2148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and Pending Complaints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214884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263077"/>
          </a:solidFill>
          <a:ln/>
        </p:spPr>
      </p:sp>
      <p:sp>
        <p:nvSpPr>
          <p:cNvPr id="12" name="Shape 10"/>
          <p:cNvSpPr/>
          <p:nvPr/>
        </p:nvSpPr>
        <p:spPr>
          <a:xfrm>
            <a:off x="8101584" y="240030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85632" y="2148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Response 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90672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263077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" y="334213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70432" y="30906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Resolution Time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3090672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263077"/>
          </a:solidFill>
          <a:ln/>
        </p:spPr>
      </p:sp>
      <p:sp>
        <p:nvSpPr>
          <p:cNvPr id="18" name="Shape 16"/>
          <p:cNvSpPr/>
          <p:nvPr/>
        </p:nvSpPr>
        <p:spPr>
          <a:xfrm>
            <a:off x="4443984" y="334213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28032" y="30906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Rating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3090672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263077"/>
          </a:solidFill>
          <a:ln/>
        </p:spPr>
      </p:sp>
      <p:sp>
        <p:nvSpPr>
          <p:cNvPr id="21" name="Shape 19"/>
          <p:cNvSpPr/>
          <p:nvPr/>
        </p:nvSpPr>
        <p:spPr>
          <a:xfrm>
            <a:off x="8101584" y="334213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85632" y="30906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by Category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032504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263077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" y="4283964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70432" y="403250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by Status and Priority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4032504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263077"/>
          </a:solidFill>
          <a:ln/>
        </p:spPr>
      </p:sp>
      <p:sp>
        <p:nvSpPr>
          <p:cNvPr id="27" name="Shape 25"/>
          <p:cNvSpPr/>
          <p:nvPr/>
        </p:nvSpPr>
        <p:spPr>
          <a:xfrm>
            <a:off x="4443984" y="4283964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28032" y="403250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by Channel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5280" y="4032504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263077"/>
          </a:solidFill>
          <a:ln/>
        </p:spPr>
      </p:sp>
      <p:sp>
        <p:nvSpPr>
          <p:cNvPr id="30" name="Shape 28"/>
          <p:cNvSpPr/>
          <p:nvPr/>
        </p:nvSpPr>
        <p:spPr>
          <a:xfrm>
            <a:off x="8101584" y="4283964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85632" y="403250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by Assigned Team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974336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263077"/>
          </a:solidFill>
          <a:ln/>
        </p:spPr>
      </p:sp>
      <p:sp>
        <p:nvSpPr>
          <p:cNvPr id="33" name="Shape 31"/>
          <p:cNvSpPr/>
          <p:nvPr/>
        </p:nvSpPr>
        <p:spPr>
          <a:xfrm>
            <a:off x="786384" y="5225796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170432" y="4974336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Complaint Trend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97680" y="4974336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263077"/>
          </a:solidFill>
          <a:ln/>
        </p:spPr>
      </p:sp>
      <p:sp>
        <p:nvSpPr>
          <p:cNvPr id="36" name="Shape 34"/>
          <p:cNvSpPr/>
          <p:nvPr/>
        </p:nvSpPr>
        <p:spPr>
          <a:xfrm>
            <a:off x="4443984" y="5225796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828032" y="4974336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helps identify: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73152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3969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complaint categories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98064"/>
            <a:ext cx="73152" cy="457200"/>
          </a:xfrm>
          <a:prstGeom prst="roundRect">
            <a:avLst/>
          </a:prstGeom>
          <a:solidFill>
            <a:srgbClr val="3E7CB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7432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resolved and pending complaints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01568"/>
            <a:ext cx="73152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3467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complaint patterns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005072"/>
            <a:ext cx="73152" cy="457200"/>
          </a:xfrm>
          <a:prstGeom prst="roundRect">
            <a:avLst/>
          </a:prstGeom>
          <a:solidFill>
            <a:srgbClr val="3E7CB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95020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channels used most by customers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608576"/>
            <a:ext cx="73152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5537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handling the highest complaint workload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212080"/>
            <a:ext cx="73152" cy="457200"/>
          </a:xfrm>
          <a:prstGeom prst="roundRect">
            <a:avLst/>
          </a:prstGeom>
          <a:solidFill>
            <a:srgbClr val="3E7CB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15721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requiring more resolution time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815584"/>
            <a:ext cx="73152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7607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differences across categories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organizations monitor complaint performance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743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faster issue resolution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47872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7764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776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3708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workload imbalance among teams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547872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7764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3776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3708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customer service decisions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175504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40410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404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99846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track customer satisfaction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5175504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540410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0" y="5404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599846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interactive and easy-to-understand report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Python, SQL, SQLite, and Power BI can be combined to transform raw customer complaint data into meaningful business insights.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3749040"/>
            <a:ext cx="18288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977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supports better decision-making, improved complaint handling, and higher customer satisfaction.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4846320"/>
            <a:ext cx="2560320" cy="2560320"/>
          </a:xfrm>
          <a:prstGeom prst="ellipse">
            <a:avLst/>
          </a:prstGeom>
          <a:solidFill>
            <a:srgbClr val="2C3A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listening. I am happy to answer any questions.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2026-09-15T08:32:37Z</dcterms:created>
  <dcterms:modified xsi:type="dcterms:W3CDTF">2026-09-15T08:32:37Z</dcterms:modified>
</cp:coreProperties>
</file>